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4747fa97d6490b" /><Relationship Type="http://schemas.openxmlformats.org/officeDocument/2006/relationships/extended-properties" Target="/docProps/app.xml" Id="Rf4aa06a942184442" /><Relationship Type="http://schemas.openxmlformats.org/officeDocument/2006/relationships/officeDocument" Target="/ppt/presentation.xml" Id="Ra53cebe95b4e4a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1071bc616b4147"/>
  </p:sldMasterIdLst>
  <p:notesMasterIdLst>
    <p:notesMasterId xmlns:r="http://schemas.openxmlformats.org/officeDocument/2006/relationships" r:id="Rb58e59dec1fa4e10"/>
  </p:notesMasterIdLst>
  <p:sldIdLst>
    <p:sldId xmlns:r="http://schemas.openxmlformats.org/officeDocument/2006/relationships" id="256" r:id="Rb2679fafdac74b06"/>
    <p:sldId xmlns:r="http://schemas.openxmlformats.org/officeDocument/2006/relationships" id="257" r:id="Rb056cd7d82684ed8"/>
    <p:sldId xmlns:r="http://schemas.openxmlformats.org/officeDocument/2006/relationships" id="258" r:id="Rbca087f6fbfb484f"/>
    <p:sldId xmlns:r="http://schemas.openxmlformats.org/officeDocument/2006/relationships" id="259" r:id="R5ee7b0fd66b24c36"/>
    <p:sldId xmlns:r="http://schemas.openxmlformats.org/officeDocument/2006/relationships" id="260" r:id="Re787787621984ee4"/>
    <p:sldId xmlns:r="http://schemas.openxmlformats.org/officeDocument/2006/relationships" id="261" r:id="R3c061dcf61324e6c"/>
    <p:sldId xmlns:r="http://schemas.openxmlformats.org/officeDocument/2006/relationships" id="262" r:id="R6f787c25a61647a9"/>
    <p:sldId xmlns:r="http://schemas.openxmlformats.org/officeDocument/2006/relationships" id="263" r:id="R61d7824e8c4e46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4734f60214b46" /><Relationship Type="http://schemas.openxmlformats.org/officeDocument/2006/relationships/slideMaster" Target="/ppt/slideMasters/slideMaster1.xml" Id="Rf01071bc616b4147" /><Relationship Type="http://schemas.openxmlformats.org/officeDocument/2006/relationships/notesMaster" Target="/ppt/notesMasters/notesMaster1.xml" Id="Rb58e59dec1fa4e10" /><Relationship Type="http://schemas.openxmlformats.org/officeDocument/2006/relationships/presProps" Target="/ppt/presProps.xml" Id="Red87b50a72aa4870" /><Relationship Type="http://schemas.openxmlformats.org/officeDocument/2006/relationships/tableStyles" Target="/ppt/tableStyles.xml" Id="R63e2cd785c4e4c42" /><Relationship Type="http://schemas.openxmlformats.org/officeDocument/2006/relationships/slide" Target="/ppt/slides/slide1.xml" Id="Rb2679fafdac74b06" /><Relationship Type="http://schemas.openxmlformats.org/officeDocument/2006/relationships/slide" Target="/ppt/slides/slide2.xml" Id="Rb056cd7d82684ed8" /><Relationship Type="http://schemas.openxmlformats.org/officeDocument/2006/relationships/slide" Target="/ppt/slides/slide3.xml" Id="Rbca087f6fbfb484f" /><Relationship Type="http://schemas.openxmlformats.org/officeDocument/2006/relationships/slide" Target="/ppt/slides/slide4.xml" Id="R5ee7b0fd66b24c36" /><Relationship Type="http://schemas.openxmlformats.org/officeDocument/2006/relationships/slide" Target="/ppt/slides/slide5.xml" Id="Re787787621984ee4" /><Relationship Type="http://schemas.openxmlformats.org/officeDocument/2006/relationships/slide" Target="/ppt/slides/slide6.xml" Id="R3c061dcf61324e6c" /><Relationship Type="http://schemas.openxmlformats.org/officeDocument/2006/relationships/slide" Target="/ppt/slides/slide7.xml" Id="R6f787c25a61647a9" /><Relationship Type="http://schemas.openxmlformats.org/officeDocument/2006/relationships/slide" Target="/ppt/slides/slide8.xml" Id="R61d7824e8c4e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d1408e61a45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b840368dcd42b9" /><Relationship Type="http://schemas.openxmlformats.org/officeDocument/2006/relationships/notesMaster" Target="/ppt/notesMasters/notesMaster1.xml" Id="R88070bb5ff3b4b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50a857f8eb464d" /><Relationship Type="http://schemas.openxmlformats.org/officeDocument/2006/relationships/notesMaster" Target="/ppt/notesMasters/notesMaster1.xml" Id="Rb706870e6efa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4d130d339d41d9" /><Relationship Type="http://schemas.openxmlformats.org/officeDocument/2006/relationships/notesMaster" Target="/ppt/notesMasters/notesMaster1.xml" Id="R8c03ab35eff74d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69288bac1e42a6" /><Relationship Type="http://schemas.openxmlformats.org/officeDocument/2006/relationships/notesMaster" Target="/ppt/notesMasters/notesMaster1.xml" Id="R6af4c32bd3cf4d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e23a3d9c714148" /><Relationship Type="http://schemas.openxmlformats.org/officeDocument/2006/relationships/notesMaster" Target="/ppt/notesMasters/notesMaster1.xml" Id="R09f764322a414d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40165c82b4569" /><Relationship Type="http://schemas.openxmlformats.org/officeDocument/2006/relationships/notesMaster" Target="/ppt/notesMasters/notesMaster1.xml" Id="R8cebd44e990745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531eac58434caa" /><Relationship Type="http://schemas.openxmlformats.org/officeDocument/2006/relationships/notesMaster" Target="/ppt/notesMasters/notesMaster1.xml" Id="Ra976349ac4c7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dda3f279a24676" /><Relationship Type="http://schemas.openxmlformats.org/officeDocument/2006/relationships/notesMaster" Target="/ppt/notesMasters/notesMaster1.xml" Id="Rc8f93370ca5645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FieldOps helps managers decide where qualified available workers should be assigned and whether collection and quality-review capacity can meet a deadline. The example client business collects recordings for AI training. The app uses predefined rules and calculations.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Retail interactions: accepted 229, target 340, QA capacity 26 units/hour and observed first-pass acceptance 229/260. The model projects 320 accepted by deadline.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overview screenshot uses the baseline state. Two workers are offline and one is absent. All values originate from deterministic simulated data.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workforce screenshot follows the illustrated intervention and therefore shows the worker assignment after it. No private personnel records are used. Validation rejects unavailable and unqualified workers and duplicate assignments.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Lucia Martin costs $24/hour for four hours, or $96. A QA block adds six review units/hour at $72 for the window. Adding the collector alone does not remove the QA bottleneck.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Intervention: assign Lucia Martin to Retail interactions, then add one QA reserve block. Assignment costs $96 and QA costs $72, total $168. Projected portfolio output rises by 21. These figures do not establish profit, realized savings or ROI. Source model: dist/model.mjs.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 verification confirmed downloaded CSV contains the three project rows, matching forecasts, simulation disclosure and audit actions. Native print-to-PDF is a browser feature. The screenshot shows the client summary after both interventions.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portfolio prototype is complete within its documented scope. The separate FieldOps-Private repository retains development materials. Real multi-user operations would require a backend, operational data governance, integration work and further validation. All metrics here remain simulated.</a:t>
            </a:r>
          </a:p>
          <a:p xmlns:a="http://schemas.openxmlformats.org/drawingml/2006/main">
            <a:r>
              <a:t>Independent portfolio demonstration. All organizations, workers, costs and results are simulated. Source: https://github.com/enzosafadi/FieldOps and docs/VALIDATION.md.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0695a91ca43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f2806a10844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72e85277445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2a1d48f7042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b4c2261944e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456ac65b642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902A92-4462-4E03-B4A8-CFAF4F4C7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8C6A2A-EDF6-459C-9D5B-424C6FFC9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C433B0-FD59-4E7F-AA9D-711EF7596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1B7D93-4D6E-4432-9E44-BD666D8D0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1FDA8E-62F5-40B9-8498-1BA7FEDDB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3A2E56-3D45-4F12-9861-F153C830D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8579C5-EB09-48C1-B5BF-DC165FAAE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26E4F3-FE53-47C5-AC65-B73C74D56B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61BF8E-801A-4118-89B5-E8EDEC9CF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3D830B-96AB-49BC-999F-27FE12BC68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be0589fb34311" /><Relationship Type="http://schemas.openxmlformats.org/officeDocument/2006/relationships/slideLayout" Target="/ppt/slideLayouts/slideLayout1.xml" Id="Rb95dd2439c174e55" /><Relationship Type="http://schemas.openxmlformats.org/officeDocument/2006/relationships/slideLayout" Target="/ppt/slideLayouts/slideLayout2.xml" Id="R2480c4554fbf4576" /><Relationship Type="http://schemas.openxmlformats.org/officeDocument/2006/relationships/slideLayout" Target="/ppt/slideLayouts/slideLayout3.xml" Id="R5630a839d4ef40e3" /><Relationship Type="http://schemas.openxmlformats.org/officeDocument/2006/relationships/slideLayout" Target="/ppt/slideLayouts/slideLayout4.xml" Id="Rb01ede71e076416d" /><Relationship Type="http://schemas.openxmlformats.org/officeDocument/2006/relationships/slideLayout" Target="/ppt/slideLayouts/slideLayout5.xml" Id="Ra506d305f7da4a69" /><Relationship Type="http://schemas.openxmlformats.org/officeDocument/2006/relationships/slideLayout" Target="/ppt/slideLayouts/slideLayout6.xml" Id="R7ec9968d3e03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5dd2439c174e55"/>
    <p:sldLayoutId xmlns:r="http://schemas.openxmlformats.org/officeDocument/2006/relationships" id="2147483650" r:id="R2480c4554fbf4576"/>
    <p:sldLayoutId xmlns:r="http://schemas.openxmlformats.org/officeDocument/2006/relationships" id="2147483651" r:id="R5630a839d4ef40e3"/>
    <p:sldLayoutId xmlns:r="http://schemas.openxmlformats.org/officeDocument/2006/relationships" id="2147483652" r:id="Rb01ede71e076416d"/>
    <p:sldLayoutId xmlns:r="http://schemas.openxmlformats.org/officeDocument/2006/relationships" id="2147483653" r:id="Ra506d305f7da4a69"/>
    <p:sldLayoutId xmlns:r="http://schemas.openxmlformats.org/officeDocument/2006/relationships" id="2147483654" r:id="R7ec9968d3e03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35e2d754e4c01" /><Relationship Type="http://schemas.openxmlformats.org/officeDocument/2006/relationships/notesSlide" Target="/ppt/notesSlides/notesSlide1.xml" Id="R38573ea04330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88e1985c34ba1" /><Relationship Type="http://schemas.openxmlformats.org/officeDocument/2006/relationships/notesSlide" Target="/ppt/notesSlides/notesSlide2.xml" Id="Rf168608289664b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bc6f3b40e4959" /><Relationship Type="http://schemas.openxmlformats.org/officeDocument/2006/relationships/image" Target="/ppt/media/image.jpeg" Id="R36e3fedf2fe149e5" /><Relationship Type="http://schemas.openxmlformats.org/officeDocument/2006/relationships/notesSlide" Target="/ppt/notesSlides/notesSlide3.xml" Id="R5c5dcc8ac92041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20d203293e4963" /><Relationship Type="http://schemas.openxmlformats.org/officeDocument/2006/relationships/image" Target="/ppt/media/image2.jpeg" Id="R30ee97e53da24ec7" /><Relationship Type="http://schemas.openxmlformats.org/officeDocument/2006/relationships/notesSlide" Target="/ppt/notesSlides/notesSlide4.xml" Id="Rd001a3f0bf9c4b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9571f94c04463" /><Relationship Type="http://schemas.openxmlformats.org/officeDocument/2006/relationships/image" Target="/ppt/media/image3.jpeg" Id="R2a7b13f2402141ed" /><Relationship Type="http://schemas.openxmlformats.org/officeDocument/2006/relationships/notesSlide" Target="/ppt/notesSlides/notesSlide5.xml" Id="R40b030e0a8614f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c8a4920984146" /><Relationship Type="http://schemas.openxmlformats.org/officeDocument/2006/relationships/notesSlide" Target="/ppt/notesSlides/notesSlide6.xml" Id="R12b930b4db8f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b34f74f554e93" /><Relationship Type="http://schemas.openxmlformats.org/officeDocument/2006/relationships/image" Target="/ppt/media/image4.jpeg" Id="Red4b7dd028334947" /><Relationship Type="http://schemas.openxmlformats.org/officeDocument/2006/relationships/notesSlide" Target="/ppt/notesSlides/notesSlide7.xml" Id="Rd6bd42d4e45d4f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dfe29cf16479e" /><Relationship Type="http://schemas.openxmlformats.org/officeDocument/2006/relationships/notesSlide" Target="/ppt/notesSlides/notesSlide8.xml" Id="Rf217aa68206248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C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9BFF0D70-0795-4FCC-927F-E6A48C0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project">
            <a:extLst xmlns:a="http://schemas.openxmlformats.org/drawingml/2006/main">
              <a:ext uri="{FF2B5EF4-FFF2-40B4-BE49-F238E27FC236}">
                <a16:creationId xmlns:a16="http://schemas.microsoft.com/office/drawing/2014/main" id="{B2C9B469-D33F-4F6E-91DB-C0FD6F33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pPr>
            <a:r>
              <a:rPr sz="6825" b="1">
                <a:solidFill>
                  <a:srgbClr val="FFFEFA"/>
                </a:solidFill>
                <a:latin typeface="DejaVu Sans"/>
                <a:ea typeface="DejaVu Sans"/>
                <a:cs typeface="DejaVu Sans"/>
              </a:rPr>
              <a:t>FieldOps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6F6633F-7A2A-4FC7-900E-7472FD6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pPr>
            <a:r>
              <a: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rPr>
              <a:t>Staffing &amp; Operations</a:t>
            </a:r>
          </a:p>
          <a:p xmlns:a="http://schemas.openxmlformats.org/drawingml/2006/main">
            <a:pPr>
              <a:def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pPr>
            <a:r>
              <a:rPr sz="3675" b="0">
                <a:solidFill>
                  <a:srgbClr val="FFFEFA"/>
                </a:solidFill>
                <a:latin typeface="DejaVu Sans"/>
                <a:ea typeface="DejaVu Sans"/>
                <a:cs typeface="DejaVu Sans"/>
              </a:rPr>
              <a:t>Management</a:t>
            </a:r>
          </a:p>
        </p:txBody>
      </p:sp>
      <p:sp>
        <p:nvSpPr>
          <p:cNvPr id="4" name="purpose">
            <a:extLst xmlns:a="http://schemas.openxmlformats.org/drawingml/2006/main">
              <a:ext uri="{FF2B5EF4-FFF2-40B4-BE49-F238E27FC236}">
                <a16:creationId xmlns:a16="http://schemas.microsoft.com/office/drawing/2014/main" id="{5906E610-3AA7-48A0-9510-A43847F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914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A working app for managers coordinating teams across different locations</a:t>
            </a:r>
          </a:p>
        </p:txBody>
      </p:sp>
      <p:sp>
        <p:nvSpPr>
          <p:cNvPr id="5" name="disclosure">
            <a:extLst xmlns:a="http://schemas.openxmlformats.org/drawingml/2006/main">
              <a:ext uri="{FF2B5EF4-FFF2-40B4-BE49-F238E27FC236}">
                <a16:creationId xmlns:a16="http://schemas.microsoft.com/office/drawing/2014/main" id="{AE8A4925-A99B-4115-B438-D112227E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Portfolio demonstration with simulated data</a:t>
            </a:r>
          </a:p>
        </p:txBody>
      </p:sp>
    </p:spTree>
    <p:extLst>
      <p:ext uri="{BB962C8B-B14F-4D97-AF65-F5344CB8AC3E}">
        <p14:creationId xmlns:p14="http://schemas.microsoft.com/office/powerpoint/2010/main" val="1971093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A2C9BA2F-802B-4D59-97BA-296AC5ED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operating problem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3DE28739-E314-4E0E-8CBC-96BF2F66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problem">
            <a:extLst xmlns:a="http://schemas.openxmlformats.org/drawingml/2006/main">
              <a:ext uri="{FF2B5EF4-FFF2-40B4-BE49-F238E27FC236}">
                <a16:creationId xmlns:a16="http://schemas.microsoft.com/office/drawing/2014/main" id="{270698B5-6342-442E-90E5-A593300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Enough workers on the schedule can still mean a missed client deadline</a:t>
            </a:r>
          </a:p>
        </p:txBody>
      </p:sp>
      <p:sp>
        <p:nvSpPr>
          <p:cNvPr id="4" name="target">
            <a:extLst xmlns:a="http://schemas.openxmlformats.org/drawingml/2006/main">
              <a:ext uri="{FF2B5EF4-FFF2-40B4-BE49-F238E27FC236}">
                <a16:creationId xmlns:a16="http://schemas.microsoft.com/office/drawing/2014/main" id="{C93250A9-87A5-42FB-9E58-734ADEDB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5625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340</a:t>
            </a:r>
          </a:p>
        </p:txBody>
      </p:sp>
      <p:sp>
        <p:nvSpPr>
          <p:cNvPr id="5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18EE5B39-2F14-4DBE-83F4-F3EC935B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Accepted recordings required</a:t>
            </a:r>
          </a:p>
        </p:txBody>
      </p:sp>
      <p:sp>
        <p:nvSpPr>
          <p:cNvPr id="6" name="forecast">
            <a:extLst xmlns:a="http://schemas.openxmlformats.org/drawingml/2006/main">
              <a:ext uri="{FF2B5EF4-FFF2-40B4-BE49-F238E27FC236}">
                <a16:creationId xmlns:a16="http://schemas.microsoft.com/office/drawing/2014/main" id="{1DB532CE-BE2E-454C-8DBD-FE00B8CE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defRPr>
            </a:pPr>
            <a:r>
              <a:rPr sz="5625" b="1">
                <a:solidFill>
                  <a:srgbClr val="A87430"/>
                </a:solidFill>
                <a:latin typeface="DejaVu Sans"/>
                <a:ea typeface="DejaVu Sans"/>
                <a:cs typeface="DejaVu Sans"/>
              </a:rPr>
              <a:t>320</a:t>
            </a:r>
          </a:p>
        </p:txBody>
      </p:sp>
      <p:sp>
        <p:nvSpPr>
          <p:cNvPr id="7" name="forecast-label">
            <a:extLst xmlns:a="http://schemas.openxmlformats.org/drawingml/2006/main">
              <a:ext uri="{FF2B5EF4-FFF2-40B4-BE49-F238E27FC236}">
                <a16:creationId xmlns:a16="http://schemas.microsoft.com/office/drawing/2014/main" id="{9238800C-B404-433F-8FDC-9C8670DC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Projected before intervention</a:t>
            </a:r>
          </a:p>
        </p:txBody>
      </p:sp>
      <p:sp>
        <p:nvSpPr>
          <p:cNvPr id="8" name="cause">
            <a:extLst xmlns:a="http://schemas.openxmlformats.org/drawingml/2006/main">
              <a:ext uri="{FF2B5EF4-FFF2-40B4-BE49-F238E27FC236}">
                <a16:creationId xmlns:a16="http://schemas.microsoft.com/office/drawing/2014/main" id="{568D4774-B2EE-44AE-8DFC-1C9D9726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In the retail scenario, quality review limits delivery. Additional collectors alone leave the forecast unchanged.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8D9B866E-C70B-4419-884A-9C628718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Fictional client scenario. Four-hour planning window. Delivery counts accepted work.</a:t>
            </a:r>
          </a:p>
        </p:txBody>
      </p:sp>
    </p:spTree>
    <p:extLst>
      <p:ext uri="{BB962C8B-B14F-4D97-AF65-F5344CB8AC3E}">
        <p14:creationId xmlns:p14="http://schemas.microsoft.com/office/powerpoint/2010/main" val="1541663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09C6A62-6F55-4B00-8B28-48B384C1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manager’s operating view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228B2F37-382E-4CD4-B4C2-28856EA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302AE880-8D19-4504-AD9E-C5F10B5F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60 workers</a:t>
            </a:r>
          </a:p>
          <a:p xmlns:a="http://schemas.openxmlformats.org/drawingml/2006/main">
            <a:pPr>
              <a:def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3 client projects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60D05CC-2C1F-4F10-9A78-1FCDF3F5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333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overview connects current staffing with accepted output and delivery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Managers open an at-risk project to inspect the constraint.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3EAD2-A686-4FA1-BA7C-B864C3C65B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3fedf2fe149e5"/>
          <a:stretch xmlns:a="http://schemas.openxmlformats.org/drawingml/2006/main"/>
        </p:blipFill>
        <p:spPr>
          <a:xfrm xmlns:a="http://schemas.openxmlformats.org/drawingml/2006/main">
            <a:off x="4560181" y="1524000"/>
            <a:ext cx="6738763" cy="4629150"/>
          </a:xfrm>
          <a:prstGeom xmlns:a="http://schemas.openxmlformats.org/drawingml/2006/main" prst="rect">
            <a:avLst/>
          </a:prstGeom>
        </p:spPr>
      </p:pic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AC23EA70-754E-4E4E-B48B-0B08520A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Actual app screen. The baseline includes 45 active workers and 12 available reserves.</a:t>
            </a:r>
          </a:p>
        </p:txBody>
      </p:sp>
    </p:spTree>
    <p:extLst>
      <p:ext uri="{BB962C8B-B14F-4D97-AF65-F5344CB8AC3E}">
        <p14:creationId xmlns:p14="http://schemas.microsoft.com/office/powerpoint/2010/main" val="1696072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D15CF89-D785-4E8B-9C55-3099733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Staffing decisions respect eligibility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17BF8EAA-6D08-4A75-95C0-F179C145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5A9E54B-DDCA-4EFF-A85E-9DEFC2DA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3905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Managers search by worker or location and review current assignments.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app checks availability, project qualifications and an existing assignment before allocating reserve staff.</a:t>
            </a:r>
          </a:p>
        </p:txBody>
      </p:sp>
      <p:sp>
        <p:nvSpPr>
          <p:cNvPr id="4" name="constraint">
            <a:extLst xmlns:a="http://schemas.openxmlformats.org/drawingml/2006/main">
              <a:ext uri="{FF2B5EF4-FFF2-40B4-BE49-F238E27FC236}">
                <a16:creationId xmlns:a16="http://schemas.microsoft.com/office/drawing/2014/main" id="{5E4741A0-0F7F-4C2E-A3D0-0945B8DE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04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One shared shift window</a:t>
            </a:r>
          </a:p>
          <a:p xmlns:a="http://schemas.openxmlformats.org/drawingml/2006/main">
            <a: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14:00–18:00 UTC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6DED0-A4D3-4A0F-87B2-08E44DB67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e97e53da24ec7"/>
          <a:stretch xmlns:a="http://schemas.openxmlformats.org/drawingml/2006/main"/>
        </p:blipFill>
        <p:spPr>
          <a:xfrm xmlns:a="http://schemas.openxmlformats.org/drawingml/2006/main">
            <a:off x="4942570" y="1562100"/>
            <a:ext cx="651691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D02D26EB-49A6-4617-B372-817FB20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Fictional worker directory. An assigned worker cannot receive a second project in this window.</a:t>
            </a:r>
          </a:p>
        </p:txBody>
      </p:sp>
    </p:spTree>
    <p:extLst>
      <p:ext uri="{BB962C8B-B14F-4D97-AF65-F5344CB8AC3E}">
        <p14:creationId xmlns:p14="http://schemas.microsoft.com/office/powerpoint/2010/main" val="1786049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ED4A219-376F-4EFF-B7AE-0B535C64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investigation explains the bottleneck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5FCCD357-1149-4D12-8357-3EE4C6CD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9827318-AFDA-4764-A133-E0045F6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5810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Retail interactions projects a shortfall of 20 accepted recordings.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investigation identifies QA capacity as the constraint and shows qualified reserve workers with their modeled cost.</a:t>
            </a:r>
          </a:p>
        </p:txBody>
      </p:sp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F2D813D8-2787-4C6A-8163-935E5FB8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5524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The manager adds review capacity after assessing the staffing action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47A28-7E33-4BEF-B21E-C7EF6659B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b13f2402141ed"/>
          <a:srcRect xmlns:a="http://schemas.openxmlformats.org/drawingml/2006/main" l="61500" t="0" r="0" b="10000"/>
          <a:stretch xmlns:a="http://schemas.openxmlformats.org/drawingml/2006/main"/>
        </p:blipFill>
        <p:spPr>
          <a:xfrm xmlns:a="http://schemas.openxmlformats.org/drawingml/2006/main">
            <a:off x="7362825" y="1400175"/>
            <a:ext cx="4095750" cy="4724400"/>
          </a:xfrm>
          <a:prstGeom xmlns:a="http://schemas.openxmlformats.org/drawingml/2006/main" prst="rect">
            <a:avLst/>
          </a:prstGeom>
        </p:spPr>
      </p:pic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4198809E-8FB3-4D60-AAD2-F55052AE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Actual investigation screen before intervention. Historical accepted output remains fixed.</a:t>
            </a:r>
          </a:p>
        </p:txBody>
      </p:sp>
    </p:spTree>
    <p:extLst>
      <p:ext uri="{BB962C8B-B14F-4D97-AF65-F5344CB8AC3E}">
        <p14:creationId xmlns:p14="http://schemas.microsoft.com/office/powerpoint/2010/main" val="1337084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AB15949-6448-43EE-9437-15184BF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Simulated result of the intervention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CE4A54CE-1884-4224-9798-08980BAA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1CAF7-428F-4867-80DB-EB219D104017}"/>
              </a:ext>
            </a:extLst>
          </p:cNvPr>
          <p:cNvGraphicFramePr/>
          <p:nvPr/>
        </p:nvGraphicFramePr>
        <p:xfrm>
          <a:off xmlns:a="http://schemas.openxmlformats.org/drawingml/2006/main" x="619125" y="1704975"/>
          <a:ext xmlns:a="http://schemas.openxmlformats.org/drawingml/2006/main" cx="109347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81700"/>
                <a:gridCol w="2428875"/>
                <a:gridCol w="2524125"/>
              </a:tblGrid>
              <a:tr h="6343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EF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D5"/>
                      </a:solidFill>
                      <a:prstDash val="solid"/>
                    </a:lnL>
                    <a:lnR w="9525">
                      <a:solidFill>
                        <a:srgbClr val="DCE3D5"/>
                      </a:solidFill>
                      <a:prstDash val="solid"/>
                    </a:lnR>
                    <a:lnT w="9525">
                      <a:solidFill>
                        <a:srgbClr val="DCE3D5"/>
                      </a:solidFill>
                      <a:prstDash val="solid"/>
                    </a:lnT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24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EF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T w="9525">
                      <a:solidFill>
                        <a:srgbClr val="DCE3D5"/>
                      </a:solidFill>
                      <a:prstDash val="solid"/>
                    </a:lnT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24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EF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T w="9525">
                      <a:solidFill>
                        <a:srgbClr val="DCE3D5"/>
                      </a:solidFill>
                      <a:prstDash val="solid"/>
                    </a:lnT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244C38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Retail projected accepted units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D5"/>
                      </a:solidFill>
                      <a:prstDash val="solid"/>
                    </a:lnL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Portfolio projected accepted units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D5"/>
                      </a:solidFill>
                      <a:prstDash val="solid"/>
                    </a:lnL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E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E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EDF1E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Projects below commitment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D5"/>
                      </a:solidFill>
                      <a:prstDash val="solid"/>
                    </a:lnL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Remaining-window direct cost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3D5"/>
                      </a:solidFill>
                      <a:prstDash val="solid"/>
                    </a:lnL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E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$3,904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E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$4,072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3D5"/>
                      </a:solidFill>
                      <a:prstDash val="solid"/>
                    </a:lnR>
                    <a:lnB w="9525">
                      <a:solidFill>
                        <a:srgbClr val="DCE3D5"/>
                      </a:solidFill>
                      <a:prstDash val="solid"/>
                    </a:lnB>
                    <a:solidFill>
                      <a:srgbClr val="EDF1E7"/>
                    </a:solidFill>
                  </a:tcPr>
                </a:tc>
              </a:tr>
            </a:tbl>
          </a:graphicData>
        </a:graphic>
      </p:graphicFrame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1F14BE0D-5418-4382-B9B9-683CD1FC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21 more projected accepted units for $168 in added modeled cost</a:t>
            </a:r>
          </a:p>
        </p:txBody>
      </p:sp>
      <p:sp>
        <p:nvSpPr>
          <p:cNvPr id="5" name="disclosure">
            <a:extLst xmlns:a="http://schemas.openxmlformats.org/drawingml/2006/main">
              <a:ext uri="{FF2B5EF4-FFF2-40B4-BE49-F238E27FC236}">
                <a16:creationId xmlns:a16="http://schemas.microsoft.com/office/drawing/2014/main" id="{41E50EF1-713E-47C1-B140-091889E4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Simulated forecasts, not achieved client outcomes. Costs exclude existing QA labor and overhead.</a:t>
            </a:r>
          </a:p>
        </p:txBody>
      </p:sp>
    </p:spTree>
    <p:extLst>
      <p:ext uri="{BB962C8B-B14F-4D97-AF65-F5344CB8AC3E}">
        <p14:creationId xmlns:p14="http://schemas.microsoft.com/office/powerpoint/2010/main" val="721046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76C3533-27CC-4556-9D6C-87F552B3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client report follows the scenario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673ED9AA-6557-44F7-93E0-EEC9B2E3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C3BA949-D6E2-48A1-B1B3-637DA5C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4095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The report explains accepted output, the deadline forecast and each project’s constraint.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53C32"/>
                </a:solidFill>
                <a:latin typeface="DejaVu Sans"/>
                <a:ea typeface="DejaVu Sans"/>
                <a:cs typeface="DejaVu Sans"/>
              </a:rPr>
              <a:t>Managers can download a CSV or print a summary. The audit records their corrective actions.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E034FC38-F991-48FD-B5D9-653D02D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44C38"/>
                </a:solidFill>
                <a:latin typeface="DejaVu Sans"/>
                <a:ea typeface="DejaVu Sans"/>
                <a:cs typeface="DejaVu Sans"/>
              </a:rPr>
              <a:t>Changes persist in the current browser and can be reset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20636-EAFA-4CC7-AFA2-259D92E64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b7dd028334947"/>
          <a:srcRect xmlns:a="http://schemas.openxmlformats.org/drawingml/2006/main" l="17500" t="9000" r="0" b="8000"/>
          <a:stretch xmlns:a="http://schemas.openxmlformats.org/drawingml/2006/main"/>
        </p:blipFill>
        <p:spPr>
          <a:xfrm xmlns:a="http://schemas.openxmlformats.org/drawingml/2006/main">
            <a:off x="5162550" y="1485900"/>
            <a:ext cx="6362700" cy="4581525"/>
          </a:xfrm>
          <a:prstGeom xmlns:a="http://schemas.openxmlformats.org/drawingml/2006/main" prst="rect">
            <a:avLst/>
          </a:prstGeom>
        </p:spPr>
      </p:pic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4CF747B0-39F8-4D79-9E64-969758DF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B796B"/>
                </a:solidFill>
                <a:latin typeface="DejaVu Sans"/>
                <a:ea typeface="DejaVu Sans"/>
                <a:cs typeface="DejaVu Sans"/>
              </a:rPr>
              <a:t>Actual report screen after intervention. All client and operational information is simulated.</a:t>
            </a:r>
          </a:p>
        </p:txBody>
      </p:sp>
    </p:spTree>
    <p:extLst>
      <p:ext uri="{BB962C8B-B14F-4D97-AF65-F5344CB8AC3E}">
        <p14:creationId xmlns:p14="http://schemas.microsoft.com/office/powerpoint/2010/main" val="450685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4C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28FA0D0-6D3C-4E2A-B30A-C70EFDE8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EFA"/>
                </a:solidFill>
                <a:latin typeface="DejaVu Sans"/>
                <a:ea typeface="DejaVu Sans"/>
                <a:cs typeface="DejaVu Sans"/>
              </a:rPr>
              <a:t>Completed portfolio prototype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10609D96-0B95-41FA-9DEF-839AC161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7D28F184-5BAE-4AEC-8448-3C7239E2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rPr>
              <a:t>Delivered</a:t>
            </a:r>
          </a:p>
        </p:txBody>
      </p:sp>
      <p:sp>
        <p:nvSpPr>
          <p:cNvPr id="4" name="delivered">
            <a:extLst xmlns:a="http://schemas.openxmlformats.org/drawingml/2006/main">
              <a:ext uri="{FF2B5EF4-FFF2-40B4-BE49-F238E27FC236}">
                <a16:creationId xmlns:a16="http://schemas.microsoft.com/office/drawing/2014/main" id="{CDD01640-03AF-4E90-B214-73CCC47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5905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Interactive application</a:t>
            </a:r>
          </a:p>
          <a:p xmlns:a="http://schemas.openxmlformats.org/drawingml/2006/main">
            <a: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Business case and introduction</a:t>
            </a:r>
          </a:p>
          <a:p xmlns:a="http://schemas.openxmlformats.org/drawingml/2006/main">
            <a: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Model checks and walkthrough</a:t>
            </a:r>
          </a:p>
          <a:p xmlns:a="http://schemas.openxmlformats.org/drawingml/2006/main">
            <a:pPr>
              <a:def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Screenshots and presentation</a:t>
            </a:r>
          </a:p>
        </p:txBody>
      </p:sp>
      <p:sp>
        <p:nvSpPr>
          <p:cNvPr id="5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0562B3E0-2CFC-4314-904B-4FED486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EFA"/>
                </a:solidFill>
                <a:latin typeface="DejaVu Sans"/>
                <a:ea typeface="DejaVu Sans"/>
                <a:cs typeface="DejaVu Sans"/>
              </a:rPr>
              <a:t>Defined scope</a:t>
            </a:r>
          </a:p>
        </p:txBody>
      </p:sp>
      <p:sp>
        <p:nvSpPr>
          <p:cNvPr id="6" name="limits">
            <a:extLst xmlns:a="http://schemas.openxmlformats.org/drawingml/2006/main">
              <a:ext uri="{FF2B5EF4-FFF2-40B4-BE49-F238E27FC236}">
                <a16:creationId xmlns:a16="http://schemas.microsoft.com/office/drawing/2014/main" id="{BDB1FCC2-C634-4CBA-A9AC-BE3E1ED9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4095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Deterministic simulation</a:t>
            </a:r>
          </a:p>
          <a:p xmlns:a="http://schemas.openxmlformats.org/drawingml/2006/main">
            <a: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Browser-local storage</a:t>
            </a:r>
          </a:p>
          <a:p xmlns:a="http://schemas.openxmlformats.org/drawingml/2006/main">
            <a: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One shared shift window</a:t>
            </a:r>
          </a:p>
          <a:p xmlns:a="http://schemas.openxmlformats.org/drawingml/2006/main">
            <a:pPr>
              <a:def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No live workforce integrations</a:t>
            </a:r>
          </a:p>
        </p:txBody>
      </p:sp>
      <p:sp>
        <p:nvSpPr>
          <p:cNvPr id="7" name="repository">
            <a:extLst xmlns:a="http://schemas.openxmlformats.org/drawingml/2006/main">
              <a:ext uri="{FF2B5EF4-FFF2-40B4-BE49-F238E27FC236}">
                <a16:creationId xmlns:a16="http://schemas.microsoft.com/office/drawing/2014/main" id="{01311A5E-91F3-47B6-8117-EE7CC0B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EFA"/>
                </a:solidFill>
                <a:latin typeface="DejaVu Sans"/>
                <a:ea typeface="DejaVu Sans"/>
                <a:cs typeface="DejaVu Sans"/>
              </a:rPr>
              <a:t>github.com/enzosafadi/FieldOps</a:t>
            </a:r>
          </a:p>
        </p:txBody>
      </p:sp>
      <p:sp>
        <p:nvSpPr>
          <p:cNvPr id="8" name="close-note">
            <a:extLst xmlns:a="http://schemas.openxmlformats.org/drawingml/2006/main">
              <a:ext uri="{FF2B5EF4-FFF2-40B4-BE49-F238E27FC236}">
                <a16:creationId xmlns:a16="http://schemas.microsoft.com/office/drawing/2014/main" id="{2635700E-A51F-4D91-A878-FC656427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7E2CD"/>
                </a:solidFill>
                <a:latin typeface="DejaVu Sans"/>
                <a:ea typeface="DejaVu Sans"/>
                <a:cs typeface="DejaVu Sans"/>
              </a:rPr>
              <a:t>Public demo source. Hosted app currently requires the owner’s ChatGPT access.</a:t>
            </a:r>
          </a:p>
        </p:txBody>
      </p:sp>
    </p:spTree>
    <p:extLst>
      <p:ext uri="{BB962C8B-B14F-4D97-AF65-F5344CB8AC3E}">
        <p14:creationId xmlns:p14="http://schemas.microsoft.com/office/powerpoint/2010/main" val="1187725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2026-10-28T15:30:58.1690000Z</dcterms:created>
  <dcterms:modified xsi:type="dcterms:W3CDTF">2026-10-28T15:30:58.1690000Z</dcterms:modified>
</coreProperties>
</file>